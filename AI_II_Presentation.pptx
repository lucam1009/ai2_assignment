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bf4b58ad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bf4b58ad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f4b58ad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bf4b58ad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bf4b58ad4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bf4b58ad4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f4b58ad4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bf4b58ad4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bf4b58ad4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bf4b58ad4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f4b58ad4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bf4b58ad4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bf4b58ad4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bf4b58ad4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bf4b58ad4_0_1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bf4b58ad4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f4b58ad4_9_0)">
  <p:cSld name="Generated (g3ebf4b58ad4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Warehouse Robotics: Multi-Robot Coordination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ean, high-tech isometric 3D render of small autonomous mobile robots (AMRs) navigating a modern warehouse grid with glowing path lines. Professional, cinematic lighting, soft blue and orange accents."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1047750"/>
            <a:ext cx="3810000" cy="3810000"/>
          </a:xfrm>
          <a:prstGeom prst="roundRect">
            <a:avLst>
              <a:gd fmla="val 3000" name="adj"/>
            </a:avLst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381000" y="1047750"/>
            <a:ext cx="4286400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381000" y="1047750"/>
            <a:ext cx="1143000" cy="228600"/>
          </a:xfrm>
          <a:prstGeom prst="roundRect">
            <a:avLst>
              <a:gd fmla="val 16666" name="adj"/>
            </a:avLst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81000" y="10477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Problem</a:t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1500" y="1428750"/>
            <a:ext cx="3905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rPr>
              <a:t>Resource Contention</a:t>
            </a:r>
            <a:endParaRPr b="1" sz="1800">
              <a:solidFill>
                <a:srgbClr val="28359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it" sz="111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Robots must efficiently navigate and deliver packages while ensuring no two units ever occupy the same physical location simultaneously.</a:t>
            </a:r>
            <a:endParaRPr b="0" sz="111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81000" y="2952750"/>
            <a:ext cx="4286400" cy="1809600"/>
          </a:xfrm>
          <a:prstGeom prst="roundRect">
            <a:avLst>
              <a:gd fmla="val 4210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81000" y="2952750"/>
            <a:ext cx="1524000" cy="228600"/>
          </a:xfrm>
          <a:prstGeom prst="roundRect">
            <a:avLst>
              <a:gd fmla="val 16666" name="adj"/>
            </a:avLst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381000" y="295275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Strategic Approach</a:t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71500" y="3333750"/>
            <a:ext cx="39054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10"/>
              <a:buFont typeface="Arial"/>
              <a:buChar char="●"/>
            </a:pPr>
            <a:r>
              <a:rPr b="1" lang="it" sz="111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Implicit Coordination:</a:t>
            </a:r>
            <a:r>
              <a:rPr b="0" lang="it" sz="111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Strict avoidance of hardcoded "if-then" waiting rules between robots.</a:t>
            </a:r>
            <a:endParaRPr b="0" sz="111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10"/>
              <a:buFont typeface="Arial"/>
              <a:buChar char="●"/>
            </a:pPr>
            <a:r>
              <a:rPr b="1" lang="it" sz="111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Emergent Behavior:</a:t>
            </a:r>
            <a:r>
              <a:rPr b="0" lang="it" sz="111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Cooperation and collision avoidance arise naturally from defined spatial physics.</a:t>
            </a:r>
            <a:endParaRPr b="0" sz="111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110"/>
              <a:buFont typeface="Arial"/>
              <a:buChar char="●"/>
            </a:pPr>
            <a:r>
              <a:rPr b="1" lang="it" sz="111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Physical Constraints:</a:t>
            </a:r>
            <a:r>
              <a:rPr b="0" lang="it" sz="111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Focus on defining the environment's rules rather than individual robot scripts.</a:t>
            </a:r>
            <a:endParaRPr b="0" sz="111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PDDL Modeling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81000" y="1047750"/>
            <a:ext cx="4191000" cy="37149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619050" y="124770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333333"/>
                </a:solidFill>
              </a:rPr>
              <a:t>In the</a:t>
            </a:r>
            <a:r>
              <a:rPr b="0" lang="it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PDDL model, collision avoidance work</a:t>
            </a:r>
            <a:r>
              <a:rPr lang="it" sz="1300">
                <a:solidFill>
                  <a:srgbClr val="333333"/>
                </a:solidFill>
              </a:rPr>
              <a:t>s </a:t>
            </a:r>
            <a:r>
              <a:rPr b="0" lang="it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but the planner act like a </a:t>
            </a:r>
            <a:r>
              <a:rPr b="1" lang="it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discrete traffic controller</a:t>
            </a:r>
            <a:r>
              <a:rPr b="0" lang="it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3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762500" y="3524250"/>
            <a:ext cx="4191000" cy="1238400"/>
          </a:xfrm>
          <a:prstGeom prst="roundRect">
            <a:avLst>
              <a:gd fmla="val 9230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5000550" y="3986850"/>
            <a:ext cx="37149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18">
                <a:solidFill>
                  <a:schemeClr val="dk1"/>
                </a:solidFill>
              </a:rPr>
              <a:t>I</a:t>
            </a:r>
            <a:r>
              <a:rPr b="0" lang="it" sz="101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PDDL planning safety is achieved through rigid synchronization rather than fluid coordination.</a:t>
            </a:r>
            <a:endParaRPr b="0" sz="101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047750"/>
            <a:ext cx="4190999" cy="2305974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pic>
      <p:pic>
        <p:nvPicPr>
          <p:cNvPr id="81" name="Google Shape;81;p15" title="Screenshot from 2026-06-14 17-00-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1063" y="1737300"/>
            <a:ext cx="2650875" cy="293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4727000" y="2952750"/>
            <a:ext cx="4191000" cy="18096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727000" y="1047763"/>
            <a:ext cx="4191000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Fluents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81000" y="1047750"/>
            <a:ext cx="4191000" cy="1333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71500" y="1285800"/>
            <a:ext cx="3810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rPr>
              <a:t>Numeric Variable Tracking</a:t>
            </a:r>
            <a:endParaRPr b="1" sz="1800">
              <a:solidFill>
                <a:srgbClr val="28359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027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 PDDL+, numeric fluents represent the internal state of robot activities that change over time</a:t>
            </a:r>
            <a:r>
              <a:rPr lang="it" sz="1027">
                <a:solidFill>
                  <a:srgbClr val="333333"/>
                </a:solidFill>
              </a:rPr>
              <a:t>.</a:t>
            </a:r>
            <a:endParaRPr b="0" sz="1027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81000" y="2524200"/>
            <a:ext cx="4191000" cy="2238000"/>
          </a:xfrm>
          <a:prstGeom prst="roundRect">
            <a:avLst>
              <a:gd fmla="val 4210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571500" y="2571750"/>
            <a:ext cx="38100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3799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27"/>
              <a:buFont typeface="Arial"/>
              <a:buChar char="●"/>
            </a:pPr>
            <a:r>
              <a:rPr b="1" lang="it" sz="1100">
                <a:solidFill>
                  <a:schemeClr val="dk1"/>
                </a:solidFill>
              </a:rPr>
              <a:t>Action Initialization:</a:t>
            </a:r>
            <a:r>
              <a:rPr lang="it" sz="1100">
                <a:solidFill>
                  <a:schemeClr val="dk1"/>
                </a:solidFill>
              </a:rPr>
              <a:t> Instantaneous actions act as triggers, explicitly initializing the numeric fluents (e.g., assigning operation timers to zero or setting the required distance).</a:t>
            </a:r>
            <a:endParaRPr b="1" sz="1027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79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27"/>
              <a:buFont typeface="Arial"/>
              <a:buChar char="●"/>
            </a:pPr>
            <a:r>
              <a:rPr b="1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Continuous Change:</a:t>
            </a:r>
            <a:r>
              <a:rPr b="0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Fluents represent quantities like distance or </a:t>
            </a:r>
            <a:r>
              <a:rPr lang="it" sz="1027">
                <a:solidFill>
                  <a:srgbClr val="333333"/>
                </a:solidFill>
              </a:rPr>
              <a:t>picking_up time</a:t>
            </a:r>
            <a:r>
              <a:rPr b="0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that increment/decrement linearly.</a:t>
            </a:r>
            <a:endParaRPr b="0" sz="1027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79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027"/>
              <a:buFont typeface="Arial"/>
              <a:buChar char="●"/>
            </a:pPr>
            <a:r>
              <a:rPr b="1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Process Integration:</a:t>
            </a:r>
            <a:r>
              <a:rPr b="0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Tied directly to the active duration of "moving," "picking," or "dropping" processes.</a:t>
            </a:r>
            <a:endParaRPr b="0" sz="1027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799" lvl="0" marL="457200" rtl="0" algn="l"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027"/>
              <a:buFont typeface="Arial"/>
              <a:buChar char="●"/>
            </a:pPr>
            <a:r>
              <a:rPr b="1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Threshold Gates:</a:t>
            </a:r>
            <a:r>
              <a:rPr b="0" lang="it" sz="1027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Final state transitions occur only when a fluent reaches a predefined numeric limit.</a:t>
            </a:r>
            <a:endParaRPr sz="1027">
              <a:solidFill>
                <a:srgbClr val="333333"/>
              </a:solidFill>
            </a:endParaRPr>
          </a:p>
        </p:txBody>
      </p:sp>
      <p:pic>
        <p:nvPicPr>
          <p:cNvPr id="95" name="Google Shape;95;p16" title="Screenshot from 2026-06-14 17-48-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750" y="1119313"/>
            <a:ext cx="4097501" cy="15713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750" y="3062213"/>
            <a:ext cx="4097500" cy="15906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3104700" y="852325"/>
            <a:ext cx="5977200" cy="42129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243625" y="1057525"/>
            <a:ext cx="2723700" cy="39063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75" y="3951224"/>
            <a:ext cx="5770125" cy="10028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17" title="Screenshot from 2026-06-14 17-30-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7775" y="2652925"/>
            <a:ext cx="5770125" cy="1002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p17" title="Screenshot from 2026-06-14 17-29-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7775" y="914400"/>
            <a:ext cx="5770125" cy="15550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7"/>
          <p:cNvSpPr txBox="1"/>
          <p:nvPr/>
        </p:nvSpPr>
        <p:spPr>
          <a:xfrm>
            <a:off x="129925" y="1057525"/>
            <a:ext cx="2837400" cy="3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100">
                <a:solidFill>
                  <a:schemeClr val="dk1"/>
                </a:solidFill>
              </a:rPr>
              <a:t>Continuous Execution:</a:t>
            </a:r>
            <a:r>
              <a:rPr lang="it" sz="1100">
                <a:solidFill>
                  <a:schemeClr val="dk1"/>
                </a:solidFill>
              </a:rPr>
              <a:t> Unlike instantaneous PDDL actions, the PDDL+ domain models robot activities using three continuous processes (mov</a:t>
            </a:r>
            <a:r>
              <a:rPr lang="it" sz="1100">
                <a:solidFill>
                  <a:schemeClr val="dk1"/>
                </a:solidFill>
              </a:rPr>
              <a:t>ing</a:t>
            </a:r>
            <a:r>
              <a:rPr lang="it" sz="1100">
                <a:solidFill>
                  <a:schemeClr val="dk1"/>
                </a:solidFill>
              </a:rPr>
              <a:t>, pickin</a:t>
            </a:r>
            <a:r>
              <a:rPr lang="it" sz="1100">
                <a:solidFill>
                  <a:schemeClr val="dk1"/>
                </a:solidFill>
              </a:rPr>
              <a:t>g up</a:t>
            </a:r>
            <a:r>
              <a:rPr lang="it" sz="1100">
                <a:solidFill>
                  <a:schemeClr val="dk1"/>
                </a:solidFill>
              </a:rPr>
              <a:t>, and dropping off).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100">
                <a:solidFill>
                  <a:schemeClr val="dk1"/>
                </a:solidFill>
              </a:rPr>
              <a:t>Numeric Fluents:</a:t>
            </a:r>
            <a:r>
              <a:rPr lang="it" sz="1100">
                <a:solidFill>
                  <a:schemeClr val="dk1"/>
                </a:solidFill>
              </a:rPr>
              <a:t> Each process operates by continuously incrementing or decrementing a tracked numeric variable over time.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100">
                <a:solidFill>
                  <a:schemeClr val="dk1"/>
                </a:solidFill>
              </a:rPr>
              <a:t>Threshold-Triggered Events:</a:t>
            </a:r>
            <a:r>
              <a:rPr lang="it" sz="1100">
                <a:solidFill>
                  <a:schemeClr val="dk1"/>
                </a:solidFill>
              </a:rPr>
              <a:t> Autonomous events automatically trigger to finalize the action the moment the modified variable reaches its specific threshold.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5259975" y="2907175"/>
            <a:ext cx="3503100" cy="1747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5259975" y="1047750"/>
            <a:ext cx="3503100" cy="1747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Autonomous Events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381000" y="1047750"/>
            <a:ext cx="4286400" cy="14289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571500" y="1257300"/>
            <a:ext cx="3905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rPr>
              <a:t>Threshold Triggers</a:t>
            </a:r>
            <a:endParaRPr b="1" sz="1800">
              <a:solidFill>
                <a:srgbClr val="28359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Events are </a:t>
            </a:r>
            <a:r>
              <a:rPr b="1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instantaneous state transitions</a:t>
            </a:r>
            <a:r>
              <a:rPr b="0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that occur automatically when numeric conditions are met.</a:t>
            </a:r>
            <a:endParaRPr b="0"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81000" y="2667000"/>
            <a:ext cx="4286400" cy="20955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571500" y="2952750"/>
            <a:ext cx="3905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Char char="●"/>
            </a:pPr>
            <a:r>
              <a:rPr b="1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Duration:</a:t>
            </a:r>
            <a:r>
              <a:rPr b="0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Unlike processes, events happen at a single point in time to finalize a change.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900"/>
              </a:spcAft>
              <a:buClr>
                <a:srgbClr val="333333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Autonomous:</a:t>
            </a:r>
            <a:r>
              <a:rPr b="0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They do not require a planner to schedule them; they are triggered by the environment's physics or when a fluent reaches its thresho</a:t>
            </a:r>
            <a:r>
              <a:rPr lang="it" sz="1100">
                <a:solidFill>
                  <a:srgbClr val="333333"/>
                </a:solidFill>
              </a:rPr>
              <a:t>ld</a:t>
            </a:r>
            <a:r>
              <a:rPr b="0" lang="it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8" title="Screenshot from 2026-06-14 18-05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625" y="2952750"/>
            <a:ext cx="3355800" cy="16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creenshot from 2026-06-14 18-05-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625" y="1111875"/>
            <a:ext cx="335580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81000" y="1047750"/>
            <a:ext cx="4191000" cy="14289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571500" y="1140651"/>
            <a:ext cx="3810000" cy="13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rPr>
              <a:t>Instantaneous Triggers</a:t>
            </a:r>
            <a:endParaRPr b="1" sz="1800">
              <a:solidFill>
                <a:srgbClr val="28359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</a:rPr>
              <a:t>Actions act as entry points for continuous processes, and they also function as standalone, immediate logical state transitions that do not trigger processes (such as the </a:t>
            </a:r>
            <a:r>
              <a:rPr lang="i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unblock-and-enter</a:t>
            </a:r>
            <a:r>
              <a:rPr lang="it" sz="1100">
                <a:solidFill>
                  <a:schemeClr val="dk1"/>
                </a:solidFill>
              </a:rPr>
              <a:t> action).</a:t>
            </a:r>
            <a:endParaRPr b="0" sz="101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81000" y="2667000"/>
            <a:ext cx="4191000" cy="20955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571500" y="2857500"/>
            <a:ext cx="381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18"/>
              <a:buFont typeface="Arial"/>
              <a:buChar char="●"/>
            </a:pPr>
            <a:r>
              <a:rPr b="1" lang="it" sz="101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State Initialization:</a:t>
            </a:r>
            <a:r>
              <a:rPr b="0" lang="it" sz="101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Set initial values for numeric variables like distance-remaining or operation-timer.</a:t>
            </a:r>
            <a:endParaRPr b="0" sz="101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018"/>
              <a:buFont typeface="Arial"/>
              <a:buChar char="●"/>
            </a:pPr>
            <a:r>
              <a:rPr b="1" lang="it" sz="101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Process Activation:</a:t>
            </a:r>
            <a:r>
              <a:rPr b="0" lang="it" sz="101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Actions toggle the logical predicates that allow processes (like moving) to begin execution.</a:t>
            </a:r>
            <a:endParaRPr b="0" sz="101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018"/>
              <a:buFont typeface="Arial"/>
              <a:buChar char="●"/>
            </a:pPr>
            <a:r>
              <a:rPr b="1" lang="it" sz="101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Discrete Change:</a:t>
            </a:r>
            <a:r>
              <a:rPr b="0" lang="it" sz="101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Unlike events, actions are scheduled by the planner to achieve specific goal states.</a:t>
            </a:r>
            <a:endParaRPr b="0" sz="101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762500" y="4238625"/>
            <a:ext cx="4191000" cy="523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4905375" y="4333875"/>
            <a:ext cx="390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01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Actions represent the "decisions" made by the robot to initiate physical changes in the environment.</a:t>
            </a:r>
            <a:endParaRPr b="0" i="1" sz="101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title="Screenshot from 2026-06-14 19-08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952500"/>
            <a:ext cx="42291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 title="Screenshot from 2026-06-14 19-08-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0" y="2571750"/>
            <a:ext cx="422910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Plan Output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400" y="895200"/>
            <a:ext cx="2684275" cy="4220976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650" y="895200"/>
            <a:ext cx="2067972" cy="42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0600" y="895200"/>
            <a:ext cx="1978675" cy="42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3157313" y="1513925"/>
            <a:ext cx="15057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←2 robots    problem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3225850" y="3454500"/>
            <a:ext cx="1368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3 robots problem →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0" y="762000"/>
            <a:ext cx="9144000" cy="381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8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Reflections</a:t>
            </a:r>
            <a:endParaRPr b="1" sz="28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21"/>
          <p:cNvGrpSpPr/>
          <p:nvPr/>
        </p:nvGrpSpPr>
        <p:grpSpPr>
          <a:xfrm>
            <a:off x="285750" y="1000125"/>
            <a:ext cx="2762400" cy="3905400"/>
            <a:chOff x="285750" y="1000125"/>
            <a:chExt cx="2762400" cy="3905400"/>
          </a:xfrm>
        </p:grpSpPr>
        <p:sp>
          <p:nvSpPr>
            <p:cNvPr id="161" name="Google Shape;161;p21"/>
            <p:cNvSpPr/>
            <p:nvPr/>
          </p:nvSpPr>
          <p:spPr>
            <a:xfrm>
              <a:off x="285750" y="1000125"/>
              <a:ext cx="2762400" cy="3905400"/>
            </a:xfrm>
            <a:prstGeom prst="roundRect">
              <a:avLst>
                <a:gd fmla="val 275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428625" y="114300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283593"/>
                  </a:solidFill>
                  <a:latin typeface="Arial"/>
                  <a:ea typeface="Arial"/>
                  <a:cs typeface="Arial"/>
                  <a:sym typeface="Arial"/>
                </a:rPr>
                <a:t>Main Challenges</a:t>
              </a:r>
              <a:endParaRPr b="1" sz="140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428625" y="1476375"/>
              <a:ext cx="2476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Avoiding Implicit Coordination:</a:t>
              </a: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Resisting hardcoded traffic rules to let coordination emerge from spatial constraints.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Event-Driven Enforcement:</a:t>
              </a: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Converting "blocking" from a planner choice (which could be bypassed) into an </a:t>
              </a:r>
              <a:r>
                <a:rPr b="1" lang="it" sz="1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inevitable environment event</a:t>
              </a: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triggered when target rooms are occupied.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21"/>
          <p:cNvGrpSpPr/>
          <p:nvPr/>
        </p:nvGrpSpPr>
        <p:grpSpPr>
          <a:xfrm>
            <a:off x="3190875" y="1000125"/>
            <a:ext cx="2762400" cy="3905400"/>
            <a:chOff x="3190875" y="1000125"/>
            <a:chExt cx="2762400" cy="3905400"/>
          </a:xfrm>
        </p:grpSpPr>
        <p:sp>
          <p:nvSpPr>
            <p:cNvPr id="165" name="Google Shape;165;p21"/>
            <p:cNvSpPr/>
            <p:nvPr/>
          </p:nvSpPr>
          <p:spPr>
            <a:xfrm>
              <a:off x="3190875" y="1000125"/>
              <a:ext cx="2762400" cy="3905400"/>
            </a:xfrm>
            <a:prstGeom prst="roundRect">
              <a:avLst>
                <a:gd fmla="val 275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3333750" y="114300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283593"/>
                  </a:solidFill>
                  <a:latin typeface="Arial"/>
                  <a:ea typeface="Arial"/>
                  <a:cs typeface="Arial"/>
                  <a:sym typeface="Arial"/>
                </a:rPr>
                <a:t>Current Limitations</a:t>
              </a:r>
              <a:endParaRPr b="1" sz="140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3333750" y="1476375"/>
              <a:ext cx="2476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Computational Overhead:</a:t>
              </a: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ENHSP solver experiences long execution times due to state space explosion.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Heuristic Plateaus:</a:t>
              </a: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Lack of movement cost makes "waiting 20s" and "wandering 20s" mathematically identical.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This results in the planner exploring thousands of useless, non-productive roaming branches.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21"/>
          <p:cNvGrpSpPr/>
          <p:nvPr/>
        </p:nvGrpSpPr>
        <p:grpSpPr>
          <a:xfrm>
            <a:off x="6096000" y="1000125"/>
            <a:ext cx="2762400" cy="3905400"/>
            <a:chOff x="6096000" y="1000125"/>
            <a:chExt cx="2762400" cy="3905400"/>
          </a:xfrm>
        </p:grpSpPr>
        <p:sp>
          <p:nvSpPr>
            <p:cNvPr id="169" name="Google Shape;169;p21"/>
            <p:cNvSpPr/>
            <p:nvPr/>
          </p:nvSpPr>
          <p:spPr>
            <a:xfrm>
              <a:off x="6096000" y="1000125"/>
              <a:ext cx="2762400" cy="3905400"/>
            </a:xfrm>
            <a:prstGeom prst="roundRect">
              <a:avLst>
                <a:gd fmla="val 275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6238875" y="114300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283593"/>
                  </a:solidFill>
                  <a:latin typeface="Arial"/>
                  <a:ea typeface="Arial"/>
                  <a:cs typeface="Arial"/>
                  <a:sym typeface="Arial"/>
                </a:rPr>
                <a:t>Future Improvements</a:t>
              </a:r>
              <a:endParaRPr b="1" sz="1400">
                <a:solidFill>
                  <a:srgbClr val="2835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1"/>
            <p:cNvSpPr txBox="1"/>
            <p:nvPr/>
          </p:nvSpPr>
          <p:spPr>
            <a:xfrm>
              <a:off x="6238875" y="1476375"/>
              <a:ext cx="2476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Resource-Based Metrics:</a:t>
              </a: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Introduce a "battery level" or "energy" fluent that drains during movement.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Search Tree Pruning:</a:t>
              </a: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Assigning cost to movement forces robots to remain still while waiting.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This simple change would eliminate chaotic movement and significantly speed up computation times.</a:t>
              </a:r>
              <a:endParaRPr b="0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